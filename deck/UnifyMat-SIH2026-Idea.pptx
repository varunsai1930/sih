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UnifyMat — One Nation, One Material Code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AI-Driven Standardization and Harmonization of Material Codes Across CPSEs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UnifyMat</a:t>
            </a:r>
          </a:p>
          <a:p>
            <a:pPr eaLnBrk="1" hangingPunct="1"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One Nation, One Material Code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One National Material Code (NMC) per real material, all CPSEs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Same bolt today: 5 codes, 5 prices (₹16–₹21) — merged safely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AI proposes · hard facts veto · humans approve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0" y="4114800"/>
            <a:ext cx="12188952" cy="50292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F497D"/>
                </a:solidFill>
                <a:latin typeface="Arial"/>
              </a:rPr>
              <a:t>Proven on 403 records · 5 CPSEs: precision 1.000 · 0 wrong merges · ~10 s on CPU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0" y="4773168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>
                <a:solidFill>
                  <a:srgbClr val="808080"/>
                </a:solidFill>
                <a:latin typeface="Arial"/>
              </a:rPr>
              <a:t>5 CPSE material masters  →  one national code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68680" y="5230368"/>
            <a:ext cx="105156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CPCL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194560" y="5230368"/>
            <a:ext cx="105156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IOCL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520439" y="5230368"/>
            <a:ext cx="105156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NTPC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846320" y="5230368"/>
            <a:ext cx="105156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SAIL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172200" y="5230368"/>
            <a:ext cx="105156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GAIL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7360920" y="5321808"/>
            <a:ext cx="960120" cy="38404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8549640" y="5047488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ONE NATIONAL MATERIAL CODE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NMC-FAST-BOLT-9BF0ABAC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Tech: Python, Streamlit, MiniLM embeddings, TF-IDF fallback, RapidFuzz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Flow: normalize → 35 attrs → match &amp; veto → deterministic NMC + audit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461772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 · NORMALIZE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~35 attributes from free text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3977640" y="4956048"/>
            <a:ext cx="384048" cy="36576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361688" y="461772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 · MATCH &amp; VETO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embeddings rank · hard facts decide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7726679" y="4956048"/>
            <a:ext cx="384048" cy="36576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8110727" y="461772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 · ISSUE NMC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legacy mapping +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Feasible: any ERP CSV in; ~10 s per run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Risk: wrong merges — veto + officer gate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Proved on ground-truthed synthetic 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434340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1F497D"/>
                </a:solidFill>
                <a:latin typeface="Arial"/>
              </a:rPr>
              <a:t>403 → 264</a:t>
            </a:r>
          </a:p>
          <a:p>
            <a:pPr algn="ctr"/>
            <a:r>
              <a:rPr sz="1300" b="0">
                <a:solidFill>
                  <a:srgbClr val="1F497D"/>
                </a:solidFill>
                <a:latin typeface="Arial"/>
              </a:rPr>
              <a:t>national codes issued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58768" y="434340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1F497D"/>
                </a:solidFill>
                <a:latin typeface="Arial"/>
              </a:rPr>
              <a:t>0</a:t>
            </a:r>
          </a:p>
          <a:p>
            <a:pPr algn="ctr"/>
            <a:r>
              <a:rPr sz="1300" b="0">
                <a:solidFill>
                  <a:srgbClr val="1F497D"/>
                </a:solidFill>
                <a:latin typeface="Arial"/>
              </a:rPr>
              <a:t>trap violations (8.8 vs 10.9)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104888" y="434340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1F497D"/>
                </a:solidFill>
                <a:latin typeface="Arial"/>
              </a:rPr>
              <a:t>7,951</a:t>
            </a:r>
          </a:p>
          <a:p>
            <a:pPr algn="ctr"/>
            <a:r>
              <a:rPr sz="1300" b="0">
                <a:solidFill>
                  <a:srgbClr val="1F497D"/>
                </a:solidFill>
                <a:latin typeface="Arial"/>
              </a:rPr>
              <a:t>unsafe pairs auto-rejected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300+ CPSEs on one national material language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Safety: 8.8 vs 10.9 mix-up now impossible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4069080"/>
            <a:ext cx="9381744" cy="50292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F497D"/>
                </a:solidFill>
                <a:latin typeface="Arial"/>
              </a:rPr>
              <a:t>Economic: 12.8% avg price spread exposed — pump ₹26,674 vs ₹54,000 (51%); aggregated demand → national rate contracts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489204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1.000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auto-merge precision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58768" y="489204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wrong merges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104888" y="4892040"/>
            <a:ext cx="2926080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89.7%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recall with approvals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12648" y="6053328"/>
            <a:ext cx="9381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>
                <a:solidFill>
                  <a:srgbClr val="808080"/>
                </a:solidFill>
                <a:latin typeface="Arial"/>
              </a:rPr>
              <a:t>Every merge is officer-approved — named, timestamped, fully auditable.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Problem Statement SIH26099 — MoP&amp;NG / CPCL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3520440"/>
            <a:ext cx="99669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Reimers &amp; Gurevych (2019) — Sentence-BERT sentence embeddings · arXiv:1908.10084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all-MiniLM-L6-v2 model · huggingface.co/sentence-transformers/all-MiniLM-L6-v2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Papadakis et al. (2020) — Blocking &amp; Filtering for Entity Resolution · ACM CSUR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ISO 898-1 — fastener property classes 8.8 / 10.9 (the grade trap in our data)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Government e-Marketplace (GeM) · gem.gov.in — national public-procurement context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70C0"/>
                </a:solidFill>
                <a:latin typeface="Arial"/>
              </a:rPr>
              <a:t>▪  </a:t>
            </a:r>
            <a:r>
              <a:rPr sz="1800">
                <a:solidFill>
                  <a:srgbClr val="1F2937"/>
                </a:solidFill>
                <a:latin typeface="Arial"/>
              </a:rPr>
              <a:t>Working prototype, benchmark + verified outputs · github.com/Varunsai1930/SIH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