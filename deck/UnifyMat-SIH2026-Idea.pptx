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t>UnifyMat — One Nation, One Material Code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10000"/>
              </a:lnSpc>
            </a:pPr>
            <a:endParaRPr lang="en-US" dirty="0"/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SIH26099</a:t>
            </a:r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AI-Driven Standardization and Harmonization of Material Codes Across CPSEs</a:t>
            </a:r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Smart Automation</a:t>
            </a:r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Hawkeye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UnifyMat</a:t>
            </a:r>
          </a:p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One Nation, One Material Code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One National Material Code (NMC) per real material, all CPSEs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Same bolt today: 5 codes, 5 prices (₹16–₹21) — merged safely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AI proposes · hard facts veto · humans approve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0" y="4114800"/>
            <a:ext cx="12188952" cy="50292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F497D"/>
                </a:solidFill>
                <a:latin typeface="Arial"/>
              </a:rPr>
              <a:t>Proven on 403 records · 5 CPSEs: precision 1.000 · 0 wrong merges · ~10 s on CPU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0" y="4773168"/>
            <a:ext cx="12188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>
                <a:solidFill>
                  <a:srgbClr val="808080"/>
                </a:solidFill>
                <a:latin typeface="Arial"/>
              </a:rPr>
              <a:t>5 CPSE material masters  →  one national code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868680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CPCL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2194560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IOCL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520439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NTPC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4846320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SAIL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6172200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GAIL</a:t>
            </a:r>
          </a:p>
        </p:txBody>
      </p:sp>
      <p:sp>
        <p:nvSpPr>
          <p:cNvPr id="15370" name="Right Arrow 15369"/>
          <p:cNvSpPr/>
          <p:nvPr/>
        </p:nvSpPr>
        <p:spPr>
          <a:xfrm>
            <a:off x="7360920" y="5321808"/>
            <a:ext cx="960120" cy="38404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8549640" y="5047488"/>
            <a:ext cx="3246120" cy="96012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ONE NATIONAL MATERIAL CODE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NMC-FAST-BOLT-9BF0ABAC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Tech: Python, Streamlit, MiniLM embeddings, TF-IDF fallback, RapidFuzz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Flow: normalize → 35 attrs → match &amp; veto → deterministic NMC + audit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6177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1 · NORMALIZE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~35 attributes from free text</a:t>
            </a:r>
          </a:p>
        </p:txBody>
      </p:sp>
      <p:sp>
        <p:nvSpPr>
          <p:cNvPr id="17412" name="Right Arrow 17411"/>
          <p:cNvSpPr/>
          <p:nvPr/>
        </p:nvSpPr>
        <p:spPr>
          <a:xfrm>
            <a:off x="3977640" y="4956048"/>
            <a:ext cx="384048" cy="36576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4361688" y="46177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2 · MATCH &amp; VETO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embeddings rank · hard facts decide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7726679" y="4956048"/>
            <a:ext cx="384048" cy="36576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8110727" y="46177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3 · ISSUE NMC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legacy mapping + audit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Feasible: any ERP CSV in; ~10 s per run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Risk: wrong merges — veto + officer gate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Proved on ground-truthed synthetic data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34340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1F497D"/>
                </a:solidFill>
                <a:latin typeface="Arial"/>
              </a:rPr>
              <a:t>403 → 264</a:t>
            </a:r>
          </a:p>
          <a:p>
            <a:pPr algn="ctr"/>
            <a:r>
              <a:rPr sz="1300" b="0">
                <a:solidFill>
                  <a:srgbClr val="1F497D"/>
                </a:solidFill>
                <a:latin typeface="Arial"/>
              </a:rPr>
              <a:t>national codes issued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58768" y="434340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1F497D"/>
                </a:solidFill>
                <a:latin typeface="Arial"/>
              </a:rPr>
              <a:t>0</a:t>
            </a:r>
          </a:p>
          <a:p>
            <a:pPr algn="ctr"/>
            <a:r>
              <a:rPr sz="1300" b="0">
                <a:solidFill>
                  <a:srgbClr val="1F497D"/>
                </a:solidFill>
                <a:latin typeface="Arial"/>
              </a:rPr>
              <a:t>trap violations (8.8 vs 10.9)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7104888" y="434340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1F497D"/>
                </a:solidFill>
                <a:latin typeface="Arial"/>
              </a:rPr>
              <a:t>7,951</a:t>
            </a:r>
          </a:p>
          <a:p>
            <a:pPr algn="ctr"/>
            <a:r>
              <a:rPr sz="1300" b="0">
                <a:solidFill>
                  <a:srgbClr val="1F497D"/>
                </a:solidFill>
                <a:latin typeface="Arial"/>
              </a:rPr>
              <a:t>unsafe pairs auto-rejected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300+ CPSEs on one national material language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Safety: 8.8 vs 10.9 mix-up now impossible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069080"/>
            <a:ext cx="9381744" cy="50292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F497D"/>
                </a:solidFill>
                <a:latin typeface="Arial"/>
              </a:rPr>
              <a:t>Economic: 12.8% avg price spread exposed — pump ₹26,674 vs ₹54,000 (51%); aggregated demand → national rate contracts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2648" y="489204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1.000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auto-merge precision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58768" y="489204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0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wrong merges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104888" y="489204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89.7%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recall with approvals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12648" y="6053328"/>
            <a:ext cx="93817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>
                <a:solidFill>
                  <a:srgbClr val="808080"/>
                </a:solidFill>
                <a:latin typeface="Arial"/>
              </a:rPr>
              <a:t>Every merge is officer-approved — named, timestamped, fully auditable.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Problem Statement SIH26099 — MoP&amp;NG / CPCL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612648" y="3520440"/>
            <a:ext cx="9966960" cy="2651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Reimers &amp; Gurevych (2019) — Sentence-BERT sentence embeddings · arXiv:1908.10084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all-MiniLM-L6-v2 model · huggingface.co/sentence-transformers/all-MiniLM-L6-v2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Papadakis et al. (2020) — Blocking &amp; Filtering for Entity Resolution · ACM CSUR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ISO 898-1 — fastener property classes 8.8 / 10.9 (the grade trap in our data)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Government e-Marketplace (GeM) · gem.gov.in — national public-procurement context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Working prototype, benchmark + verified outputs · github.com/Varunsai1930/SIH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