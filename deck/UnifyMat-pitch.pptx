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26099 · MINISTRY OF PETROLEUM &amp; NATURAL GAS · CPCL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69164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4C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Nation · One Material Code</a:t>
            </a:r>
            <a:endParaRPr lang="en-US" sz="2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C6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standardization and harmonization of material codes across CPSEs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4617720"/>
            <a:ext cx="2395728" cy="1170432"/>
          </a:xfrm>
          <a:prstGeom prst="roundRect">
            <a:avLst>
              <a:gd name="adj" fmla="val 6250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7457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52943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· 5 CPSEs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91256" y="4617720"/>
            <a:ext cx="2395728" cy="1170432"/>
          </a:xfrm>
          <a:prstGeom prst="roundRect">
            <a:avLst>
              <a:gd name="adj" fmla="val 6250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47457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82696" y="52943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codes issued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79592" y="4617720"/>
            <a:ext cx="2395728" cy="1170432"/>
          </a:xfrm>
          <a:prstGeom prst="roundRect">
            <a:avLst>
              <a:gd name="adj" fmla="val 6250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9592" y="47457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71032" y="52943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auto-merge precision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67928" y="4617720"/>
            <a:ext cx="2395728" cy="1170432"/>
          </a:xfrm>
          <a:prstGeom prst="roundRect">
            <a:avLst>
              <a:gd name="adj" fmla="val 6250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47457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659368" y="52943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near-miss merges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Team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bolt lives five lives across five ERPs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00200" y="1481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0" y="14813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ERP DESCRIBES 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01000" y="1481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05256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9601200" cy="530352"/>
          </a:xfrm>
          <a:prstGeom prst="rect">
            <a:avLst/>
          </a:prstGeom>
          <a:solidFill>
            <a:srgbClr val="EFF4F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288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MAT100006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BOLT BLK OX, 8.8, M20x80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0" y="1828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19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3957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395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RM-00006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39572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Bolt – Black Oxide – DIN 933 – 8.8 – M20 X 80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3957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23957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19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9601200" cy="530352"/>
          </a:xfrm>
          <a:prstGeom prst="rect">
            <a:avLst/>
          </a:prstGeom>
          <a:solidFill>
            <a:srgbClr val="EFF4F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62656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29626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EGW000004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96265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Bolt, M20 x 80 mm, Blk Oxide, Gr.8.8, DIN 933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29626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52560" y="29626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21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529584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35295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S100028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52958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BOLT / DIN-933 / M20x80MM / BLACK / 8.8 GR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01000" y="352958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52560" y="35295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16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059936"/>
            <a:ext cx="9601200" cy="530352"/>
          </a:xfrm>
          <a:prstGeom prst="rect">
            <a:avLst/>
          </a:prstGeom>
          <a:solidFill>
            <a:srgbClr val="EF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09651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00200" y="40965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GLM-HB-0001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40965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BOLT M20X80 GR 8.8 BLACK DIN 933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01000" y="40965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52560" y="4096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18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378440" y="1481328"/>
            <a:ext cx="1325880" cy="3291840"/>
          </a:xfrm>
          <a:prstGeom prst="roundRect">
            <a:avLst>
              <a:gd name="adj" fmla="val 4138"/>
            </a:avLst>
          </a:prstGeom>
          <a:solidFill>
            <a:srgbClr val="1E40AF"/>
          </a:solidFill>
          <a:ln/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378440" y="182880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16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21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0378440" y="32461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bolt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528523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138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aggregate demand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777240" y="54498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CPSE buys the same bolt separately — losing bulk pricing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270248" y="528523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4544568" y="5138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inventory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4544568" y="54498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material stocked many times across warehouses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037576" y="528523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8311896" y="5138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spend visibility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8311896" y="54498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cannot answer “how much steel do we buy?”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61996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synthetic multi-CPSE dataset built for SIH 26099 (records generated to mirror real ERP description styles)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 · SIH 26099 · Smart Automation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118311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three-stage harmonization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56232"/>
            <a:ext cx="566928" cy="5669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90472" y="1901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&amp; extract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Tames every house style into canonical text, then regex-extracts ~35 engineering attributes (grade, class, schedule, size, material).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86784" y="27432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85623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22392" y="1901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— with a veto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09160" y="26517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by category, ranks candidates by sentence-embedding similarity, then hard-vetoes any conflicting attribute. Missing identity data goes to an officer, never auto-merged.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18704" y="27432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366760" y="16002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22792" y="1856232"/>
            <a:ext cx="566928" cy="5669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862279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54312" y="1901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&amp; code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641080" y="26517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standardized description + stable National Material Code + full legacy-code mapping and audit trail.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EFF4F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92040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In: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MAT100006 · RM-00006 · EGW000004 · S100028 · GLM-HB-0001</a:t>
            </a:r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Out:  </a:t>
            </a:r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NMC-FAST-BOLT-DEE61ADC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one national material, five traceable legacy codes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 · SIH 26099 · Smart Automation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the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949440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pic>
        <p:nvPicPr>
          <p:cNvPr id="5" name="Image 0" descr="gui-test-screenshots/tab1_overview.png">    </p:cNvPr>
          <p:cNvPicPr>
            <a:picLocks noChangeAspect="1"/>
          </p:cNvPicPr>
          <p:nvPr/>
        </p:nvPicPr>
        <p:blipFill>
          <a:blip r:embed="rId1"/>
          <a:srcRect l="-2179" r="-2179" t="0" b="0"/>
          <a:stretch/>
        </p:blipFill>
        <p:spPr>
          <a:xfrm>
            <a:off x="667512" y="1700784"/>
            <a:ext cx="662025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5321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tab — verified capture of the running app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818120" y="1627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30768" y="1609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Same-bolt match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30768" y="18836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CPSE descriptions resolved to one NMC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2487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30768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Near-miss refusal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430768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 vs gate valve at 0.63 similarity — vetoed on 5 attributes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30768" y="3328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approval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430768" y="360273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decision, logged with name &amp; timestamp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81812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20" name="Text 17"/>
          <p:cNvSpPr/>
          <p:nvPr/>
        </p:nvSpPr>
        <p:spPr>
          <a:xfrm>
            <a:off x="78181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30768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5th CPSE upload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430768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GAIL CSV ingested live — numbers update before your eyes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818120" y="5065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24" name="Text 21"/>
          <p:cNvSpPr/>
          <p:nvPr/>
        </p:nvSpPr>
        <p:spPr>
          <a:xfrm>
            <a:off x="781812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430768" y="5047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spread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430768" y="5321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negotiation-ready spread on 68 shared materials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 · SIH 26099 · Smart Automation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18311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first — the system never guesses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4650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350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AUTO-MERGE PRECISION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6243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auto-merged pair is correct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0420" y="160020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0420" y="174650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51860" y="2350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NEAR-MISS VIOLATIONS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51860" y="26243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8.8 vs 10.9 never merged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74650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89.7%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2350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RECALL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6243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officer approval of flagged pairs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75420" y="160020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174650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66860" y="2350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EVALUATED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66860" y="26243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ground truth, 4 CPSEs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111831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657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THAT MUST NEVER SLIP THROUGH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95020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CPCL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MAT100050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“BUTTERFLY VALVE 6″, WAFER, CL 150, CI”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CPCL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MAT100044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“GATE VALVE CL 800, FS, SW, 1.5″”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3977640"/>
            <a:ext cx="3794760" cy="1325880"/>
          </a:xfrm>
          <a:prstGeom prst="roundRect">
            <a:avLst>
              <a:gd name="adj" fmla="val 4828"/>
            </a:avLst>
          </a:prstGeom>
          <a:solidFill>
            <a:srgbClr val="FDF6EC"/>
          </a:solidFill>
          <a:ln w="12700">
            <a:solidFill>
              <a:srgbClr val="F0D9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04164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 similarity → REJECTED.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conflicting attributes: class, end, inch, material, type.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8978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automatically across 7,951 candidate pairs · 2,798 attribute vetoes issued · Source: outputs/rejected_pairs.csv, pipeline run of 04 Sep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 · SIH 26099 · Smart Automation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proposes, hard facts dispose, humans approve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similarity + attribute agreement produce a suggested NMC and confidence score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86784" y="26517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874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09160" y="2267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single conflicting hard attribute (grade, schedule, seal, size…) kills the merge — no exceptions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18704" y="26517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366760" y="16459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1080" y="1874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41080" y="2267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4108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missing identity attributes land in the review queue; every decision is logged with name and timestamp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EF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09160"/>
            <a:ext cx="10543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leaves a trail.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creations, officer approvals and rejections persist to outputs/audit_log.csv and review_decisions.csv — the audit trail the problem statement demands. Nothing is a black box: same inputs always produce the same codes.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 · SIH 26099 · Smart Automation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SAVINGS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spread on materials shared across CPSEs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the highest and lowest CPSE rate for the identical material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Centrifugal pump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88920" y="1783080"/>
            <a:ext cx="4297680" cy="402336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159752" y="178308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50.6%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44144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bearing 6205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8920" y="2441448"/>
            <a:ext cx="2768861" cy="402336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630933" y="244144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32.6%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09981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 4″ SCH40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88920" y="3099816"/>
            <a:ext cx="2480084" cy="402336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5342156" y="309981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7581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 2″ SCH40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88920" y="3758184"/>
            <a:ext cx="2327202" cy="402336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5189274" y="3758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41655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washer M16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88920" y="4416552"/>
            <a:ext cx="2123360" cy="402336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4985432" y="441655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507492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grease NLGI-3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88920" y="5074920"/>
            <a:ext cx="2063906" cy="402336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4925978" y="50749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88920" y="5641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material, bought at up to 1.5× the lowest CPSE rate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18120" y="1600200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18120" y="174650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909560" y="2350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 SPREAD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09560" y="2624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68 materials shared by 2+ CPSEs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32461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national code unlocks: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demand across CPSEs into single, bulk tenders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over-paying CPSEs against peers on identical materials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Ministry a true total-spend picture per material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989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outputs/unified_master.csv — min/max last-rate per NMC on shared materials (rates in ₹)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 · SIH 26099 · Smart Automation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400 records to a national registry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EFF4FB"/>
          </a:solidFill>
          <a:ln w="12700">
            <a:solidFill>
              <a:srgbClr val="C9D9F2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81965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verified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9572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" y="23134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 records · 5 CPSE house styles ingested live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31012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14984" y="32278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keeps comparisons within category — O(n·k), not O(n²)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22452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014984" y="41422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mode: TF-IDF fallback matches with zero internet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181965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09160" y="23957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946904" y="23134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approximate-nearest-neighbour index for millions of rows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3101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4946904" y="32278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ERP connectors — scheduled CSV/API pulls from each CPSE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42245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41422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worklist with roles, comments and sign-off levels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66760" y="160020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22792" y="181965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rollout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41080" y="23957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8878824" y="23134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NMC issued alongside legacy codes — zero ERP migration risk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41080" y="33101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8878824" y="32278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/ SAP integration via the mapping layer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41080" y="4224528"/>
            <a:ext cx="109728" cy="10972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8878824" y="41422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Department-wise spend dashboards on live procurement data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557784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is data-agnostic: any CSV with material code, description and UOM can be harmonized — the ERP export every CPSE already produces.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UnifyMat · SIH 26099 · Smart Automation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NATION · ONE MATERIAL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material a single code.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code fully traceable.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434340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4343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CPSE legacy codes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08960" y="434340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9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1568" y="434340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1296" y="4343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Material Code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07608" y="434340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9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0216" y="434340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4343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description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06256" y="434340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9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98864" y="434340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B3568"/>
          </a:solidFill>
          <a:ln w="12700">
            <a:solidFill>
              <a:srgbClr val="2E4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4343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Officer-approved audit trail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codes never die — the NMC is the join key between them.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UnifyMat · Smart India Hackathon 2026 · github.com/Varunsai1930/SIH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UnifyMat — One Nation, One Material Code</dc:title>
  <dc:subject>PptxGenJS Presentation</dc:subject>
  <dc:creator>Team UnifyMat</dc:creator>
  <cp:lastModifiedBy>Team UnifyMat</cp:lastModifiedBy>
  <cp:revision>1</cp:revision>
  <dcterms:created xsi:type="dcterms:W3CDTF">2026-09-04T14:29:29Z</dcterms:created>
  <dcterms:modified xsi:type="dcterms:W3CDTF">2026-09-04T14:29:29Z</dcterms:modified>
</cp:coreProperties>
</file>