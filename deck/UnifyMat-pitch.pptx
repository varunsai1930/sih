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0515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9DB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SIH 26099 · MINISTRY OF PETROLEUM &amp; NATURAL GAS · CPCL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1691640"/>
            <a:ext cx="10972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UnifyMat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502920" y="283464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700" b="1" dirty="0">
                <a:solidFill>
                  <a:srgbClr val="F4C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Nation · One Material Code</a:t>
            </a:r>
            <a:endParaRPr lang="en-US" sz="2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50" dirty="0">
                <a:solidFill>
                  <a:srgbClr val="C6D4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AI-driven standardization and harmonization of material codes across CPSEs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02920" y="4617720"/>
            <a:ext cx="2395728" cy="1170432"/>
          </a:xfrm>
          <a:prstGeom prst="roundRect">
            <a:avLst>
              <a:gd name="adj" fmla="val 6250"/>
            </a:avLst>
          </a:prstGeom>
          <a:solidFill>
            <a:srgbClr val="1B3568"/>
          </a:solidFill>
          <a:ln w="12700">
            <a:solidFill>
              <a:srgbClr val="2E4A8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4745736"/>
            <a:ext cx="23957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403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94360" y="5294376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DB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 · 5 CPSEs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191256" y="4617720"/>
            <a:ext cx="2395728" cy="1170432"/>
          </a:xfrm>
          <a:prstGeom prst="roundRect">
            <a:avLst>
              <a:gd name="adj" fmla="val 6250"/>
            </a:avLst>
          </a:prstGeom>
          <a:solidFill>
            <a:srgbClr val="1B3568"/>
          </a:solidFill>
          <a:ln w="12700">
            <a:solidFill>
              <a:srgbClr val="2E4A8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91256" y="4745736"/>
            <a:ext cx="23957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267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282696" y="5294376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DB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codes issued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879592" y="4617720"/>
            <a:ext cx="2395728" cy="1170432"/>
          </a:xfrm>
          <a:prstGeom prst="roundRect">
            <a:avLst>
              <a:gd name="adj" fmla="val 6250"/>
            </a:avLst>
          </a:prstGeom>
          <a:solidFill>
            <a:srgbClr val="1B3568"/>
          </a:solidFill>
          <a:ln w="12700">
            <a:solidFill>
              <a:srgbClr val="2E4A8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79592" y="4745736"/>
            <a:ext cx="23957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4C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971032" y="5294376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DB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auto-merge precision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567928" y="4617720"/>
            <a:ext cx="2395728" cy="1170432"/>
          </a:xfrm>
          <a:prstGeom prst="roundRect">
            <a:avLst>
              <a:gd name="adj" fmla="val 6250"/>
            </a:avLst>
          </a:prstGeom>
          <a:solidFill>
            <a:srgbClr val="1B3568"/>
          </a:solidFill>
          <a:ln w="12700">
            <a:solidFill>
              <a:srgbClr val="2E4A8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67928" y="4745736"/>
            <a:ext cx="23957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8659368" y="5294376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DB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near-miss merges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C9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India Hackathon 2026 · Team presentation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bolt lives five lives across five ERPs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481328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CPSE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600200" y="1481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 CODE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291840" y="148132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ERP DESCRIBES IT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001000" y="148132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UOM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052560" y="148132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792224"/>
            <a:ext cx="9601200" cy="530352"/>
          </a:xfrm>
          <a:prstGeom prst="rect">
            <a:avLst/>
          </a:prstGeom>
          <a:solidFill>
            <a:srgbClr val="EFF4FB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182880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CPCL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00200" y="18288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MAT100006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91840" y="182880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HEX BOLT BLK OX, 8.8, M20x80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001000" y="182880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052560" y="18288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 19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2395728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IOCL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600200" y="239572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RM-00006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291840" y="2395728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Hex Bolt – Black Oxide – DIN 933 – 8.8 – M20 X 80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001000" y="2395728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052560" y="239572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 19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2926080"/>
            <a:ext cx="9601200" cy="530352"/>
          </a:xfrm>
          <a:prstGeom prst="rect">
            <a:avLst/>
          </a:prstGeom>
          <a:solidFill>
            <a:srgbClr val="EFF4FB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2962656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NTPC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600200" y="2962656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EGW000004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291840" y="2962656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Hex Bolt, M20 x 80 mm, Blk Oxide, Gr.8.8, DIN 933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001000" y="2962656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052560" y="2962656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 21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2920" y="3529584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600200" y="3529584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S100028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291840" y="3529584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HEX BOLT / DIN-933 / M20x80MM / BLACK / 8.8 GR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001000" y="3529584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052560" y="3529584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 16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7200" y="4059936"/>
            <a:ext cx="9601200" cy="530352"/>
          </a:xfrm>
          <a:prstGeom prst="rect">
            <a:avLst/>
          </a:prstGeom>
          <a:solidFill>
            <a:srgbClr val="EFF4FB"/>
          </a:solidFill>
          <a:ln/>
        </p:spPr>
      </p:sp>
      <p:sp>
        <p:nvSpPr>
          <p:cNvPr id="32" name="Text 30"/>
          <p:cNvSpPr/>
          <p:nvPr/>
        </p:nvSpPr>
        <p:spPr>
          <a:xfrm>
            <a:off x="502920" y="4096512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GAIL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600200" y="4096512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GLM-HB-0001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291840" y="4096512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HEX BOLT M20X80 GR 8.8 BLACK DIN 933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001000" y="4096512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9052560" y="409651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 18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10378440" y="1481328"/>
            <a:ext cx="1325880" cy="3291840"/>
          </a:xfrm>
          <a:prstGeom prst="roundRect">
            <a:avLst>
              <a:gd name="adj" fmla="val 4138"/>
            </a:avLst>
          </a:prstGeom>
          <a:solidFill>
            <a:srgbClr val="1E40AF"/>
          </a:solidFill>
          <a:ln/>
          <a:effectLst>
            <a:outerShdw sx="100000" sy="100000" kx="0" ky="0" algn="bl" rotWithShape="0" blurRad="88900" dist="25400" dir="5400000">
              <a:srgbClr val="1E293B">
                <a:alpha val="14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10378440" y="1828800"/>
            <a:ext cx="1325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 16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 21</a:t>
            </a:r>
            <a:endParaRPr lang="en-US" sz="2100" dirty="0"/>
          </a:p>
        </p:txBody>
      </p:sp>
      <p:sp>
        <p:nvSpPr>
          <p:cNvPr id="39" name="Text 37"/>
          <p:cNvSpPr/>
          <p:nvPr/>
        </p:nvSpPr>
        <p:spPr>
          <a:xfrm>
            <a:off x="10378440" y="324612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2EB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spread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2EB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one bolt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02920" y="5285232"/>
            <a:ext cx="146304" cy="14630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41" name="Text 39"/>
          <p:cNvSpPr/>
          <p:nvPr/>
        </p:nvSpPr>
        <p:spPr>
          <a:xfrm>
            <a:off x="777240" y="513892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aggregate demand</a:t>
            </a:r>
            <a:endParaRPr lang="en-US" sz="1450" dirty="0"/>
          </a:p>
        </p:txBody>
      </p:sp>
      <p:sp>
        <p:nvSpPr>
          <p:cNvPr id="42" name="Text 40"/>
          <p:cNvSpPr/>
          <p:nvPr/>
        </p:nvSpPr>
        <p:spPr>
          <a:xfrm>
            <a:off x="777240" y="5449824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CPSE buys the same bolt separately — losing bulk pricing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4270248" y="5285232"/>
            <a:ext cx="146304" cy="14630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44" name="Text 42"/>
          <p:cNvSpPr/>
          <p:nvPr/>
        </p:nvSpPr>
        <p:spPr>
          <a:xfrm>
            <a:off x="4544568" y="513892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 inventory</a:t>
            </a:r>
            <a:endParaRPr lang="en-US" sz="1450" dirty="0"/>
          </a:p>
        </p:txBody>
      </p:sp>
      <p:sp>
        <p:nvSpPr>
          <p:cNvPr id="45" name="Text 43"/>
          <p:cNvSpPr/>
          <p:nvPr/>
        </p:nvSpPr>
        <p:spPr>
          <a:xfrm>
            <a:off x="4544568" y="5449824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material stocked many times across warehouses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8037576" y="5285232"/>
            <a:ext cx="146304" cy="14630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47" name="Text 45"/>
          <p:cNvSpPr/>
          <p:nvPr/>
        </p:nvSpPr>
        <p:spPr>
          <a:xfrm>
            <a:off x="8311896" y="513892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spend visibility</a:t>
            </a:r>
            <a:endParaRPr lang="en-US" sz="1450" dirty="0"/>
          </a:p>
        </p:txBody>
      </p:sp>
      <p:sp>
        <p:nvSpPr>
          <p:cNvPr id="48" name="Text 46"/>
          <p:cNvSpPr/>
          <p:nvPr/>
        </p:nvSpPr>
        <p:spPr>
          <a:xfrm>
            <a:off x="8311896" y="5449824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Ministry cannot answer “how much steel do we buy?”</a:t>
            </a:r>
            <a:endParaRPr lang="en-US" sz="1150" dirty="0"/>
          </a:p>
        </p:txBody>
      </p:sp>
      <p:sp>
        <p:nvSpPr>
          <p:cNvPr id="49" name="Text 47"/>
          <p:cNvSpPr/>
          <p:nvPr/>
        </p:nvSpPr>
        <p:spPr>
          <a:xfrm>
            <a:off x="502920" y="6199632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synthetic multi-CPSE dataset built for SIH 26099 (records generated to mirror real ERP description styles)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UnifyMat · SIH 26099 · Smart Automation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11183112" y="647395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three-stage harmonization pipeline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342900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1E293B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1856232"/>
            <a:ext cx="566928" cy="566928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6" name="Text 4"/>
          <p:cNvSpPr/>
          <p:nvPr/>
        </p:nvSpPr>
        <p:spPr>
          <a:xfrm>
            <a:off x="758952" y="18562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90472" y="190195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Normalize &amp; extract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777240" y="2651760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Tames every house style into canonical text, then regex-extracts ~35 engineering attributes (grade, class, schedule, size, material).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986784" y="274320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4434840" y="1600200"/>
            <a:ext cx="342900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1E293B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90872" y="1856232"/>
            <a:ext cx="566928" cy="566928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4690872" y="18562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422392" y="190195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 — with a veto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4709160" y="2651760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by category, ranks candidates by sentence-embedding similarity, then hard-vetoes any conflicting attribute. Missing identity data goes to an officer, never auto-merged.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918704" y="274320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8366760" y="1600200"/>
            <a:ext cx="342900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1E293B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622792" y="1856232"/>
            <a:ext cx="566928" cy="566928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18" name="Text 16"/>
          <p:cNvSpPr/>
          <p:nvPr/>
        </p:nvSpPr>
        <p:spPr>
          <a:xfrm>
            <a:off x="8622792" y="18562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354312" y="190195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Standardize &amp; code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8641080" y="2651760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standardized description + stable National Material Code + full legacy-code mapping and audit trail.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02920" y="4892040"/>
            <a:ext cx="11183112" cy="1051560"/>
          </a:xfrm>
          <a:prstGeom prst="roundRect">
            <a:avLst>
              <a:gd name="adj" fmla="val 6957"/>
            </a:avLst>
          </a:prstGeom>
          <a:solidFill>
            <a:srgbClr val="EFF4FB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4892040"/>
            <a:ext cx="106344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In:  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MAT100006 · RM-00006 · EGW000004 · S100028 · GLM-HB-0001</a:t>
            </a:r>
            <a:pPr indent="0" marL="0">
              <a:buNone/>
            </a:pPr>
            <a:r>
              <a:rPr lang="en-US" sz="13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Out:  </a:t>
            </a:r>
            <a:pPr indent="0" marL="0">
              <a:buNone/>
            </a:pPr>
            <a:r>
              <a:rPr lang="en-US" sz="1350" b="1" dirty="0">
                <a:solidFill>
                  <a:srgbClr val="1E40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NMC-FAST-BOLT-DEE61ADC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one national material, five traceable legacy codes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UnifyMat · SIH 26099 · Smart Automation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1183112" y="647395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PROTOTYPE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in the dashboard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6949440" cy="3913632"/>
          </a:xfrm>
          <a:prstGeom prst="roundRect">
            <a:avLst>
              <a:gd name="adj" fmla="val 14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1E293B">
                <a:alpha val="14000"/>
              </a:srgbClr>
            </a:outerShdw>
          </a:effectLst>
        </p:spPr>
      </p:sp>
      <p:pic>
        <p:nvPicPr>
          <p:cNvPr id="5" name="Image 0" descr="gui-test-screenshots/tab1_overview.png">    </p:cNvPr>
          <p:cNvPicPr>
            <a:picLocks noChangeAspect="1"/>
          </p:cNvPicPr>
          <p:nvPr/>
        </p:nvPicPr>
        <p:blipFill>
          <a:blip r:embed="rId1"/>
          <a:srcRect l="-2179" r="-2179" t="0" b="0"/>
          <a:stretch/>
        </p:blipFill>
        <p:spPr>
          <a:xfrm>
            <a:off x="667512" y="1700784"/>
            <a:ext cx="6620256" cy="3566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553212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 tab — verified capture of the running app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818120" y="16276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40AF"/>
          </a:solidFill>
          <a:ln/>
        </p:spPr>
      </p:sp>
      <p:sp>
        <p:nvSpPr>
          <p:cNvPr id="8" name="Text 5"/>
          <p:cNvSpPr/>
          <p:nvPr/>
        </p:nvSpPr>
        <p:spPr>
          <a:xfrm>
            <a:off x="7818120" y="1627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430768" y="160934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Same-bolt match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8430768" y="1883664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side-by-side CPSE descriptions resolved to one NMC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818120" y="2487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D97706"/>
          </a:solidFill>
          <a:ln/>
        </p:spPr>
      </p:sp>
      <p:sp>
        <p:nvSpPr>
          <p:cNvPr id="12" name="Text 9"/>
          <p:cNvSpPr/>
          <p:nvPr/>
        </p:nvSpPr>
        <p:spPr>
          <a:xfrm>
            <a:off x="7818120" y="2487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430768" y="2468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Near-miss refusal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8430768" y="27432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butterfly vs gate valve at 0.63 similarity — vetoed on 5 attributes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7818120" y="334670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40AF"/>
          </a:solidFill>
          <a:ln/>
        </p:spPr>
      </p:sp>
      <p:sp>
        <p:nvSpPr>
          <p:cNvPr id="16" name="Text 13"/>
          <p:cNvSpPr/>
          <p:nvPr/>
        </p:nvSpPr>
        <p:spPr>
          <a:xfrm>
            <a:off x="7818120" y="33467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430768" y="332841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Officer approval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8430768" y="3602736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human-in-the-loop decision, logged with name &amp; timestamp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7818120" y="42062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40AF"/>
          </a:solidFill>
          <a:ln/>
        </p:spPr>
      </p:sp>
      <p:sp>
        <p:nvSpPr>
          <p:cNvPr id="20" name="Text 17"/>
          <p:cNvSpPr/>
          <p:nvPr/>
        </p:nvSpPr>
        <p:spPr>
          <a:xfrm>
            <a:off x="7818120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8430768" y="41879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5th CPSE upload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8430768" y="446227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pre-flight quality check, then live ingest — numbers update on screen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7818120" y="50657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40AF"/>
          </a:solidFill>
          <a:ln/>
        </p:spPr>
      </p:sp>
      <p:sp>
        <p:nvSpPr>
          <p:cNvPr id="24" name="Text 21"/>
          <p:cNvSpPr/>
          <p:nvPr/>
        </p:nvSpPr>
        <p:spPr>
          <a:xfrm>
            <a:off x="7818120" y="5065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8430768" y="50474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spread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8430768" y="532180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negotiation-ready spread on 68 shared materials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UnifyMat · SIH 26099 · Smart Automation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11183112" y="647395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first — the system never guesses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2615184" cy="1481328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1E293B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746504"/>
            <a:ext cx="2615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7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2350008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AUTO-MERGE PRECISION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94360" y="2624328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auto-merged pair is correct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60420" y="1600200"/>
            <a:ext cx="2615184" cy="1481328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1E293B">
                <a:alpha val="14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360420" y="1746504"/>
            <a:ext cx="2615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451860" y="2350008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NEAR-MISS VIOLATIONS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451860" y="2624328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8.8 vs 10.9 never merged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17920" y="1600200"/>
            <a:ext cx="2615184" cy="1481328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1E293B">
                <a:alpha val="14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217920" y="1746504"/>
            <a:ext cx="2615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89.7%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6309360" y="2350008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POTENTIAL RECALL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309360" y="2624328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officer approval of flagged pairs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75420" y="1600200"/>
            <a:ext cx="2615184" cy="1481328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1E293B">
                <a:alpha val="14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075420" y="1746504"/>
            <a:ext cx="2615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388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9166860" y="2350008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 EVALUATED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166860" y="2624328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ground truth, 4 CPSEs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3429000"/>
            <a:ext cx="11183112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1E293B">
                <a:alpha val="14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22960" y="3657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TRAP THAT MUST NEVER SLIP THROUGH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22960" y="3950208"/>
            <a:ext cx="6583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CPCL 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E40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MAT100050 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“BUTTERFLY VALVE 6″, WAFER, CL 150, CI”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CPCL 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E40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MAT100044 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“GATE VALVE CL 800, FS, SW, 1.5″”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635240" y="3977640"/>
            <a:ext cx="3794760" cy="1325880"/>
          </a:xfrm>
          <a:prstGeom prst="roundRect">
            <a:avLst>
              <a:gd name="adj" fmla="val 4828"/>
            </a:avLst>
          </a:prstGeom>
          <a:solidFill>
            <a:srgbClr val="FDF6EC"/>
          </a:solidFill>
          <a:ln w="12700">
            <a:solidFill>
              <a:srgbClr val="F0D9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818120" y="4041648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0.63 similarity → REJECTED.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conflicting attributes: class, end, inch, material, type.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02920" y="589788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Checked automatically across 7,951 candidate pairs · 2,798 attribute vetoes issued · Source: outputs/rejected_pairs.csv, pipeline run of 04 Sep 2026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UnifyMat · SIH 26099 · Smart Automation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1183112" y="647395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BY DESIGN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proposes, hard facts dispose, humans approve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45920"/>
            <a:ext cx="342900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1E293B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87452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777240" y="226771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77240" y="260604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 similarity + attribute agreement produce a suggested NMC and confidence score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986784" y="265176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434840" y="1645920"/>
            <a:ext cx="342900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1E293B">
                <a:alpha val="1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09160" y="187452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VETO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4709160" y="226771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DISPOSES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709160" y="260604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single conflicting hard attribute (grade, schedule, seal, size…) kills the merge — no exceptions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918704" y="265176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8366760" y="1645920"/>
            <a:ext cx="342900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1E293B">
                <a:alpha val="14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41080" y="187452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OFFICER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8641080" y="226771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641080" y="260604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 missing identity attributes land in the review queue; every decision is logged with name and timestamp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4709160"/>
            <a:ext cx="11183112" cy="1234440"/>
          </a:xfrm>
          <a:prstGeom prst="roundRect">
            <a:avLst>
              <a:gd name="adj" fmla="val 5926"/>
            </a:avLst>
          </a:prstGeom>
          <a:solidFill>
            <a:srgbClr val="EFF4FB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4709160"/>
            <a:ext cx="105430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action leaves a trail.  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 creations, officer approvals and rejections persist to outputs/audit_log.csv and review_decisions.csv — the audit trail the problem statement demands. Nothing is a black box: same inputs always produce the same codes.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UnifyMat · SIH 26099 · Smart Automation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1183112" y="647395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SAVINGS STORY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spread on materials shared across CPSEs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1704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Difference between the highest and lowest CPSE rate for the identical material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178308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Centrifugal pump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788920" y="1783080"/>
            <a:ext cx="4297680" cy="402336"/>
          </a:xfrm>
          <a:prstGeom prst="roundRect">
            <a:avLst>
              <a:gd name="adj" fmla="val 9091"/>
            </a:avLst>
          </a:prstGeom>
          <a:solidFill>
            <a:srgbClr val="D97706"/>
          </a:solidFill>
          <a:ln/>
        </p:spPr>
      </p:sp>
      <p:sp>
        <p:nvSpPr>
          <p:cNvPr id="7" name="Text 5"/>
          <p:cNvSpPr/>
          <p:nvPr/>
        </p:nvSpPr>
        <p:spPr>
          <a:xfrm>
            <a:off x="7159752" y="1783080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50.6%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02920" y="2441448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Ball bearing 6205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88920" y="2441448"/>
            <a:ext cx="2768861" cy="402336"/>
          </a:xfrm>
          <a:prstGeom prst="roundRect">
            <a:avLst>
              <a:gd name="adj" fmla="val 9091"/>
            </a:avLst>
          </a:prstGeom>
          <a:solidFill>
            <a:srgbClr val="1E40AF"/>
          </a:solidFill>
          <a:ln/>
        </p:spPr>
      </p:sp>
      <p:sp>
        <p:nvSpPr>
          <p:cNvPr id="10" name="Text 8"/>
          <p:cNvSpPr/>
          <p:nvPr/>
        </p:nvSpPr>
        <p:spPr>
          <a:xfrm>
            <a:off x="5630933" y="2441448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32.6%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02920" y="3099816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 4″ SCH40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788920" y="3099816"/>
            <a:ext cx="2480084" cy="402336"/>
          </a:xfrm>
          <a:prstGeom prst="roundRect">
            <a:avLst>
              <a:gd name="adj" fmla="val 9091"/>
            </a:avLst>
          </a:prstGeom>
          <a:solidFill>
            <a:srgbClr val="1E40AF"/>
          </a:solidFill>
          <a:ln/>
        </p:spPr>
      </p:sp>
      <p:sp>
        <p:nvSpPr>
          <p:cNvPr id="13" name="Text 11"/>
          <p:cNvSpPr/>
          <p:nvPr/>
        </p:nvSpPr>
        <p:spPr>
          <a:xfrm>
            <a:off x="5342156" y="3099816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29.2%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02920" y="3758184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Tee 2″ SCH40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788920" y="3758184"/>
            <a:ext cx="2327202" cy="402336"/>
          </a:xfrm>
          <a:prstGeom prst="roundRect">
            <a:avLst>
              <a:gd name="adj" fmla="val 9091"/>
            </a:avLst>
          </a:prstGeom>
          <a:solidFill>
            <a:srgbClr val="1E40AF"/>
          </a:solidFill>
          <a:ln/>
        </p:spPr>
      </p:sp>
      <p:sp>
        <p:nvSpPr>
          <p:cNvPr id="16" name="Text 14"/>
          <p:cNvSpPr/>
          <p:nvPr/>
        </p:nvSpPr>
        <p:spPr>
          <a:xfrm>
            <a:off x="5189274" y="3758184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27.4%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02920" y="4416552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washer M16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2788920" y="4416552"/>
            <a:ext cx="2123360" cy="402336"/>
          </a:xfrm>
          <a:prstGeom prst="roundRect">
            <a:avLst>
              <a:gd name="adj" fmla="val 9091"/>
            </a:avLst>
          </a:prstGeom>
          <a:solidFill>
            <a:srgbClr val="1E40AF"/>
          </a:solidFill>
          <a:ln/>
        </p:spPr>
      </p:sp>
      <p:sp>
        <p:nvSpPr>
          <p:cNvPr id="19" name="Text 17"/>
          <p:cNvSpPr/>
          <p:nvPr/>
        </p:nvSpPr>
        <p:spPr>
          <a:xfrm>
            <a:off x="4985432" y="4416552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25.0%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02920" y="507492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Lithium grease NLGI-3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2788920" y="5074920"/>
            <a:ext cx="2063906" cy="402336"/>
          </a:xfrm>
          <a:prstGeom prst="roundRect">
            <a:avLst>
              <a:gd name="adj" fmla="val 9091"/>
            </a:avLst>
          </a:prstGeom>
          <a:solidFill>
            <a:srgbClr val="1E40AF"/>
          </a:solidFill>
          <a:ln/>
        </p:spPr>
      </p:sp>
      <p:sp>
        <p:nvSpPr>
          <p:cNvPr id="22" name="Text 20"/>
          <p:cNvSpPr/>
          <p:nvPr/>
        </p:nvSpPr>
        <p:spPr>
          <a:xfrm>
            <a:off x="4925978" y="5074920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24.3%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2788920" y="56418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identical material, bought at up to 1.5× the lowest CPSE rate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818120" y="1600200"/>
            <a:ext cx="388620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1E293B">
                <a:alpha val="14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818120" y="1746504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12.6%</a:t>
            </a:r>
            <a:endParaRPr lang="en-US" sz="3400" dirty="0"/>
          </a:p>
        </p:txBody>
      </p:sp>
      <p:sp>
        <p:nvSpPr>
          <p:cNvPr id="26" name="Text 24"/>
          <p:cNvSpPr/>
          <p:nvPr/>
        </p:nvSpPr>
        <p:spPr>
          <a:xfrm>
            <a:off x="7909560" y="235000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PRICE SPREAD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909560" y="262432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68 materials shared by 2+ CPSEs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863840" y="3246120"/>
            <a:ext cx="37947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one national code unlocks:</a:t>
            </a:r>
            <a:endParaRPr lang="en-US" sz="125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 demand across CPSEs into single, bulk tenders</a:t>
            </a:r>
            <a:endParaRPr lang="en-US" sz="125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 over-paying CPSEs against peers on identical materials</a:t>
            </a:r>
            <a:endParaRPr lang="en-US" sz="125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the Ministry a true total-spend picture per material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02920" y="598932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outputs/unified_master.csv — min/max last-rate per NMC on shared materials (rates in ₹)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UnifyMat · SIH 26099 · Smart Automation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1183112" y="647395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TO SCALE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400 records to a national registry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3429000" cy="3657600"/>
          </a:xfrm>
          <a:prstGeom prst="roundRect">
            <a:avLst>
              <a:gd name="adj" fmla="val 2133"/>
            </a:avLst>
          </a:prstGeom>
          <a:solidFill>
            <a:srgbClr val="EFF4FB"/>
          </a:solidFill>
          <a:ln w="12700">
            <a:solidFill>
              <a:srgbClr val="C9D9F2"/>
            </a:solidFill>
            <a:prstDash val="solid"/>
          </a:ln>
          <a:effectLst>
            <a:outerShdw sx="100000" sy="100000" kx="0" ky="0" algn="bl" rotWithShape="0" blurRad="88900" dist="25400" dir="5400000">
              <a:srgbClr val="1E293B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58952" y="1819656"/>
            <a:ext cx="29169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— verified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2395728"/>
            <a:ext cx="109728" cy="109728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7" name="Text 5"/>
          <p:cNvSpPr/>
          <p:nvPr/>
        </p:nvSpPr>
        <p:spPr>
          <a:xfrm>
            <a:off x="1014984" y="2313432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403 records · 5 CPSE house styles ingested live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77240" y="3310128"/>
            <a:ext cx="109728" cy="109728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9" name="Text 7"/>
          <p:cNvSpPr/>
          <p:nvPr/>
        </p:nvSpPr>
        <p:spPr>
          <a:xfrm>
            <a:off x="1014984" y="3227832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Blocking keeps comparisons within category — O(n·k), not O(n²)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77240" y="4224528"/>
            <a:ext cx="109728" cy="109728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1" name="Text 9"/>
          <p:cNvSpPr/>
          <p:nvPr/>
        </p:nvSpPr>
        <p:spPr>
          <a:xfrm>
            <a:off x="1014984" y="4142232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 mode: TF-IDF fallback matches with zero internet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434840" y="1600200"/>
            <a:ext cx="3429000" cy="36576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1E293B">
                <a:alpha val="14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90872" y="1819656"/>
            <a:ext cx="29169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 term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709160" y="2395728"/>
            <a:ext cx="109728" cy="109728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15" name="Text 13"/>
          <p:cNvSpPr/>
          <p:nvPr/>
        </p:nvSpPr>
        <p:spPr>
          <a:xfrm>
            <a:off x="4946904" y="2313432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FAISS approximate-nearest-neighbour index for millions of rows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09160" y="3310128"/>
            <a:ext cx="109728" cy="109728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17" name="Text 15"/>
          <p:cNvSpPr/>
          <p:nvPr/>
        </p:nvSpPr>
        <p:spPr>
          <a:xfrm>
            <a:off x="4946904" y="3227832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 ERP connectors — scheduled CSV/API pulls from each CPSE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709160" y="4224528"/>
            <a:ext cx="109728" cy="109728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19" name="Text 17"/>
          <p:cNvSpPr/>
          <p:nvPr/>
        </p:nvSpPr>
        <p:spPr>
          <a:xfrm>
            <a:off x="4946904" y="4142232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Officer worklist with roles, comments and sign-off levels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366760" y="1600200"/>
            <a:ext cx="3429000" cy="36576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1E293B">
                <a:alpha val="14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622792" y="1819656"/>
            <a:ext cx="29169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rollout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8641080" y="2395728"/>
            <a:ext cx="109728" cy="109728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23" name="Text 21"/>
          <p:cNvSpPr/>
          <p:nvPr/>
        </p:nvSpPr>
        <p:spPr>
          <a:xfrm>
            <a:off x="8878824" y="2313432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NMC issued alongside legacy codes — zero ERP migration risk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641080" y="3310128"/>
            <a:ext cx="109728" cy="109728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25" name="Text 23"/>
          <p:cNvSpPr/>
          <p:nvPr/>
        </p:nvSpPr>
        <p:spPr>
          <a:xfrm>
            <a:off x="8878824" y="3227832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 / SAP integration via the mapping layer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641080" y="4224528"/>
            <a:ext cx="109728" cy="109728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27" name="Text 25"/>
          <p:cNvSpPr/>
          <p:nvPr/>
        </p:nvSpPr>
        <p:spPr>
          <a:xfrm>
            <a:off x="8878824" y="4142232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Department-wise spend dashboards on live procurement data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02920" y="5577840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is data-agnostic: any CSV with material code, description and UOM can be harmonized — the ERP export every CPSE already produces.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UnifyMat · SIH 26099 · Smart Automation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1183112" y="647395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DB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NATION · ONE MATERIAL CODE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210312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material a single code.</a:t>
            </a:r>
            <a:endParaRPr lang="en-US" sz="4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code fully traceable.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02920" y="4343400"/>
            <a:ext cx="2606040" cy="685800"/>
          </a:xfrm>
          <a:prstGeom prst="roundRect">
            <a:avLst>
              <a:gd name="adj" fmla="val 9333"/>
            </a:avLst>
          </a:prstGeom>
          <a:solidFill>
            <a:srgbClr val="1B3568"/>
          </a:solidFill>
          <a:ln w="12700">
            <a:solidFill>
              <a:srgbClr val="2E4A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12648" y="4343400"/>
            <a:ext cx="23865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CPSE legacy codes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108960" y="4343400"/>
            <a:ext cx="292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C9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401568" y="4343400"/>
            <a:ext cx="2606040" cy="685800"/>
          </a:xfrm>
          <a:prstGeom prst="roundRect">
            <a:avLst>
              <a:gd name="adj" fmla="val 9333"/>
            </a:avLst>
          </a:prstGeom>
          <a:solidFill>
            <a:srgbClr val="1B3568"/>
          </a:solidFill>
          <a:ln w="12700">
            <a:solidFill>
              <a:srgbClr val="2E4A8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11296" y="4343400"/>
            <a:ext cx="23865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Material Code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007608" y="4343400"/>
            <a:ext cx="292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C9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300216" y="4343400"/>
            <a:ext cx="2606040" cy="685800"/>
          </a:xfrm>
          <a:prstGeom prst="roundRect">
            <a:avLst>
              <a:gd name="adj" fmla="val 9333"/>
            </a:avLst>
          </a:prstGeom>
          <a:solidFill>
            <a:srgbClr val="1B3568"/>
          </a:solidFill>
          <a:ln w="12700">
            <a:solidFill>
              <a:srgbClr val="2E4A8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9944" y="4343400"/>
            <a:ext cx="23865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Standardized description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906256" y="4343400"/>
            <a:ext cx="292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C9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98864" y="4343400"/>
            <a:ext cx="2606040" cy="685800"/>
          </a:xfrm>
          <a:prstGeom prst="roundRect">
            <a:avLst>
              <a:gd name="adj" fmla="val 9333"/>
            </a:avLst>
          </a:prstGeom>
          <a:solidFill>
            <a:srgbClr val="1B3568"/>
          </a:solidFill>
          <a:ln w="12700">
            <a:solidFill>
              <a:srgbClr val="2E4A8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08592" y="4343400"/>
            <a:ext cx="23865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Officer-approved audit trail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02920" y="53949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6D4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Legacy codes never die — the NMC is the join key between them.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C9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UnifyMat · Smart India Hackathon 2026 · github.com/Varunsai1930/SIH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UnifyMat — One Nation, One Material Code</dc:title>
  <dc:subject>PptxGenJS Presentation</dc:subject>
  <dc:creator>Team UnifyMat</dc:creator>
  <cp:lastModifiedBy>Team UnifyMat</cp:lastModifiedBy>
  <cp:revision>1</cp:revision>
  <dcterms:created xsi:type="dcterms:W3CDTF">2026-09-05T02:53:10Z</dcterms:created>
  <dcterms:modified xsi:type="dcterms:W3CDTF">2026-09-05T02:53:10Z</dcterms:modified>
</cp:coreProperties>
</file>